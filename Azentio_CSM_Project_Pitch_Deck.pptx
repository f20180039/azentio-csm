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01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EXECUTIVE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Azentio-CSM: Autonomous BFSI Voice AI Platform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Deterministic Guardrails, Multilingual Intelligence &amp; Cryptographic Auditability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Full-Stack BFSI Solution: </a:t>
            </a:r>
            <a:r>
              <a:rPr sz="1050">
                <a:solidFill>
                  <a:srgbClr val="334155"/>
                </a:solidFill>
                <a:latin typeface="Segoe UI"/>
              </a:rPr>
              <a:t>Autonomous voice agent handling tier-1 customer support, loan inquiries, statement generation, and renewals.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Zero-Hallucination Architecture: </a:t>
            </a:r>
            <a:r>
              <a:rPr sz="1050">
                <a:solidFill>
                  <a:srgbClr val="334155"/>
                </a:solidFill>
                <a:latin typeface="Segoe UI"/>
              </a:rPr>
              <a:t>Every financial figure, reference number, and date is strictly grounded against Core Banking Simulator APIs before synthesis.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Enterprise Compliance &amp; 2FA: </a:t>
            </a:r>
            <a:r>
              <a:rPr sz="1050">
                <a:solidFill>
                  <a:srgbClr val="334155"/>
                </a:solidFill>
                <a:latin typeface="Segoe UI"/>
              </a:rPr>
              <a:t>Automated Two-Factor Authentication (OTP/DOB) with hard guardrails and instant supervisor handoff backstops.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Production-Grade Quality: </a:t>
            </a:r>
            <a:r>
              <a:rPr sz="1050">
                <a:solidFill>
                  <a:srgbClr val="334155"/>
                </a:solidFill>
                <a:latin typeface="Segoe UI"/>
              </a:rPr>
              <a:t>924 automated tests passing (100% green across Core API, Banking Simulator, Voice Agent, and Web Desk).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924 Tests Passing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100% Automated Coverage Across 4 Microservices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1_support_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LIVE OPERATOR SUPPORT DESK  </a:t>
            </a:r>
            <a:r>
              <a:rPr sz="850">
                <a:solidFill>
                  <a:srgbClr val="1E40AF"/>
                </a:solidFill>
              </a:rPr>
              <a:t>(http://localhost:5173/)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FastAPI Core (8080) · Pipecat WebRTC (7861) · React Desk (5173)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02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THE PROBLEM &amp;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The High-Stakes Friction in BFSI Customer Service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Traditional Chatbots Hallucinate; Human Call Centers Are Overwhelmed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Financial &amp; Regulatory Risk: </a:t>
            </a:r>
            <a:r>
              <a:rPr sz="1050">
                <a:solidFill>
                  <a:srgbClr val="334155"/>
                </a:solidFill>
                <a:latin typeface="Segoe UI"/>
              </a:rPr>
              <a:t>Generic LLM bots hallucinate balances, interest rates, and loan terms, causing severe RBI/compliance penalties.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Vernacular &amp; Multilingual Gap: </a:t>
            </a:r>
            <a:r>
              <a:rPr sz="1050">
                <a:solidFill>
                  <a:srgbClr val="334155"/>
                </a:solidFill>
                <a:latin typeface="Segoe UI"/>
              </a:rPr>
              <a:t>Over 65% of Tier-2/3 Indian banking customers speak regional languages (Kannada, Hindi), where off-the-shelf bots fail.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Security &amp; Verification Vulnerability: </a:t>
            </a:r>
            <a:r>
              <a:rPr sz="1050">
                <a:solidFill>
                  <a:srgbClr val="334155"/>
                </a:solidFill>
                <a:latin typeface="Segoe UI"/>
              </a:rPr>
              <a:t>Weak authentication leads to data leakage, social engineering attacks, and compromised customer PII.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Black-Box Operations: </a:t>
            </a:r>
            <a:r>
              <a:rPr sz="1050">
                <a:solidFill>
                  <a:srgbClr val="334155"/>
                </a:solidFill>
                <a:latin typeface="Segoe UI"/>
              </a:rPr>
              <a:t>Zero explainability into why an AI agent made a decision, with no tamper-evident audit trail for dispute resolution.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65%+ Call Volume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Demands Vernacular Regional Language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EXECUTIVE DASHBOARD &amp; INTENT TRENDS  </a:t>
            </a:r>
            <a:r>
              <a:rPr sz="850">
                <a:solidFill>
                  <a:srgbClr val="1E40AF"/>
                </a:solidFill>
              </a:rPr>
              <a:t>(http://localhost:5173/dashboard)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Rolling 7-Day Intent Classification · Live Model Cooldown Tracker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03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Defense-in-Depth Microservice Architecture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Modular, Multi-Model Resilience with Strict Service Separation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Dual Ingress Channels: </a:t>
            </a:r>
            <a:r>
              <a:rPr sz="1050">
                <a:solidFill>
                  <a:srgbClr val="334155"/>
                </a:solidFill>
                <a:latin typeface="Segoe UI"/>
              </a:rPr>
              <a:t>WebRTC browser peer connection (&lt;350ms glass-to-glass) + Twilio Carrier Telephony (PSTN/SIP voice streaming).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Multi-Model Resilience Chain: </a:t>
            </a:r>
            <a:r>
              <a:rPr sz="1050">
                <a:solidFill>
                  <a:srgbClr val="334155"/>
                </a:solidFill>
                <a:latin typeface="Segoe UI"/>
              </a:rPr>
              <a:t>Dynamic failover across Groq GPT-OSS 120B -&gt; 20B -&gt; Local LLaMA 3.2 Ollama with automatic cooldown &amp; health monitoring.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Clean Microservices: </a:t>
            </a:r>
            <a:r>
              <a:rPr sz="1050">
                <a:solidFill>
                  <a:srgbClr val="334155"/>
                </a:solidFill>
                <a:latin typeface="Segoe UI"/>
              </a:rPr>
              <a:t>Core API (8080) + Core Banking Simulator (8090) + Pipecat Voice Pipeline (7861) + Modern React Desk (5173).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100% Modern Python &amp; TypeScript: </a:t>
            </a:r>
            <a:r>
              <a:rPr sz="1050">
                <a:solidFill>
                  <a:srgbClr val="334155"/>
                </a:solidFill>
                <a:latin typeface="Segoe UI"/>
              </a:rPr>
              <a:t>Completely eliminated legacy Java dependencies for lightning-fast container startup and agile CI/CD.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&lt;850ms Latency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Sub-Second Glass-to-Glass Voice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1_support_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INTEGRATED MICROSERVICES ECOSYSTEM  </a:t>
            </a:r>
            <a:r>
              <a:rPr sz="850">
                <a:solidFill>
                  <a:srgbClr val="1E40AF"/>
                </a:solidFill>
              </a:rPr>
              <a:t>(http://localhost:5173/)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FastAPI (Python 3.12) · SQLite Storage · WebRTC SmallWebRTC SCTP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04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MULTILINGUAL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Native Kannada &amp; Hindi Speech Recognition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Accurate Vernacular Nuances with Real-Time English Transcription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Devanagari &amp; Kannada Conditioning: </a:t>
            </a:r>
            <a:r>
              <a:rPr sz="1050">
                <a:solidFill>
                  <a:srgbClr val="334155"/>
                </a:solidFill>
                <a:latin typeface="Segoe UI"/>
              </a:rPr>
              <a:t>Custom acoustic biasing handles Kannada verb endings, Hindi honorifics, and dialectical number pronunciations.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Dual-Pane Operator Assistance: </a:t>
            </a:r>
            <a:r>
              <a:rPr sz="1050">
                <a:solidFill>
                  <a:srgbClr val="334155"/>
                </a:solidFill>
                <a:latin typeface="Segoe UI"/>
              </a:rPr>
              <a:t>Call transcripts display native vernacular text alongside instant English machine translation for bank supervisors.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Phonetic Reference Recovery: </a:t>
            </a:r>
            <a:r>
              <a:rPr sz="1050">
                <a:solidFill>
                  <a:srgbClr val="334155"/>
                </a:solidFill>
                <a:latin typeface="Segoe UI"/>
              </a:rPr>
              <a:t>Translates spoken phonetic phrases into valid banking references ('ಎಂಟು ನೂರು' -&gt; '800', 'ಲೋನ್' -&gt; 'LOAN').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Speech-to-Text Benchmark Proven: </a:t>
            </a:r>
            <a:r>
              <a:rPr sz="1050">
                <a:solidFill>
                  <a:srgbClr val="334155"/>
                </a:solidFill>
                <a:latin typeface="Segoe UI"/>
              </a:rPr>
              <a:t>Benchmarked across diverse accents and background noise with &gt;94% intent classification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94%+ STT Accuracy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Across Kannada, Hindi &amp; Indian English Dialects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kannada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MULTILINGUAL TIMELINE WITH ENGLISH TRANSLATION  </a:t>
            </a:r>
            <a:r>
              <a:rPr sz="850">
                <a:solidFill>
                  <a:srgbClr val="1E40AF"/>
                </a:solidFill>
              </a:rPr>
              <a:t>(http://localhost:5173/support/calls/475b0ac5-...)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Acoustic Conditioning (VOICE_LANGUAGES=en,kn,hi) · Real-time Translate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05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SECURITY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Deterministic 2FA &amp; Zero-Trust Banking Gate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No Customer Financial Data Exposed Prior to Identity Verification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Strict Two-Factor Gate: </a:t>
            </a:r>
            <a:r>
              <a:rPr sz="1050">
                <a:solidFill>
                  <a:srgbClr val="334155"/>
                </a:solidFill>
                <a:latin typeface="Segoe UI"/>
              </a:rPr>
              <a:t>Callers must provide registered 10-digit mobile number and Date of Birth (YYYY-MM-DD) or OTP before any query.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Model Lockout Enforcement: </a:t>
            </a:r>
            <a:r>
              <a:rPr sz="1050">
                <a:solidFill>
                  <a:srgbClr val="334155"/>
                </a:solidFill>
                <a:latin typeface="Segoe UI"/>
              </a:rPr>
              <a:t>LLM prompt conditioning forbids answering balance or statement queries while verified=false; hard-coded tool guardrails enforce this.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Brute-Force Protection: </a:t>
            </a:r>
            <a:r>
              <a:rPr sz="1050">
                <a:solidFill>
                  <a:srgbClr val="334155"/>
                </a:solidFill>
                <a:latin typeface="Segoe UI"/>
              </a:rPr>
              <a:t>Maximum 3 failed verification attempts before account lock and automated supervisor escalation (ESC-XXXXX).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Caller Profile Integration: </a:t>
            </a:r>
            <a:r>
              <a:rPr sz="1050">
                <a:solidFill>
                  <a:srgbClr val="334155"/>
                </a:solidFill>
                <a:latin typeface="Segoe UI"/>
              </a:rPr>
              <a:t>Verified callers instantly surface KYC profile, active loan accounts, and risk score on the operator desk.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Zero Data Leaks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Hardware-Enforced 2FA Gate &amp; Automatic Lockout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kannada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CUSTOMER IDENTITY VERIFICATION CARD  </a:t>
            </a:r>
            <a:r>
              <a:rPr sz="850">
                <a:solidFill>
                  <a:srgbClr val="1E40AF"/>
                </a:solidFill>
              </a:rPr>
              <a:t>(http://localhost:5173/support/calls/475b0ac5-...)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Deterministic 2FA Gate · 3-Strike Lockout · KYC Data Surface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06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AUTONOMOUS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Real-Time Service Request Execution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Automated Core Banking Transactions with Reference Generation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End-to-End API Execution: </a:t>
            </a:r>
            <a:r>
              <a:rPr sz="1050">
                <a:solidFill>
                  <a:srgbClr val="334155"/>
                </a:solidFill>
                <a:latin typeface="Segoe UI"/>
              </a:rPr>
              <a:t>The voice agent directly queries and updates the Core Banking Simulator (8090) in real-time.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Automated Service Requests: </a:t>
            </a:r>
            <a:r>
              <a:rPr sz="1050">
                <a:solidFill>
                  <a:srgbClr val="334155"/>
                </a:solidFill>
                <a:latin typeface="Segoe UI"/>
              </a:rPr>
              <a:t>Instant registration of loan statements, repayment schedules, and callback tickets with unique reference IDs (SR-1042).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Formal Complaint Lodging: </a:t>
            </a:r>
            <a:r>
              <a:rPr sz="1050">
                <a:solidFill>
                  <a:srgbClr val="334155"/>
                </a:solidFill>
                <a:latin typeface="Segoe UI"/>
              </a:rPr>
              <a:t>Logs grievances with category classification, department routing, and SLA tracking (CMP-3011).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Phonetic Reference Repair: </a:t>
            </a:r>
            <a:r>
              <a:rPr sz="1050">
                <a:solidFill>
                  <a:srgbClr val="334155"/>
                </a:solidFill>
                <a:latin typeface="Segoe UI"/>
              </a:rPr>
              <a:t>Spoken letters and numbers are phonetically spelled out and matched against active database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100% Autonomous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SR-1042 / CMP-3011 Real-Time API Execution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1_support_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CORE BANKING OPERATIONS LEDGER  </a:t>
            </a:r>
            <a:r>
              <a:rPr sz="850">
                <a:solidFill>
                  <a:srgbClr val="1E40AF"/>
                </a:solidFill>
              </a:rPr>
              <a:t>(http://localhost:5173/ (Tickets &amp; Complaints Tabs))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Simulated Core Banking (8090) · SQLite Backend · SLA Department Routing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07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EXPLAINABILITY &amp; GROUNDING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Explainability: 'Why Did the Agent Say This?'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Structured Decision Rationale, Masked Tool Traces &amp; Fact Verification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Transparent Tool Execution: </a:t>
            </a:r>
            <a:r>
              <a:rPr sz="1050">
                <a:solidFill>
                  <a:srgbClr val="334155"/>
                </a:solidFill>
                <a:latin typeface="Segoe UI"/>
              </a:rPr>
              <a:t>Every agent utterance is accompanied by an expandable 'Retrieved' card showing the exact tool called and parameters used.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Pre-Speech Grounding Validator: </a:t>
            </a:r>
            <a:r>
              <a:rPr sz="1050">
                <a:solidFill>
                  <a:srgbClr val="334155"/>
                </a:solidFill>
                <a:latin typeface="Segoe UI"/>
              </a:rPr>
              <a:t>Extracts figures, dates, and amounts from draft replies and verifies existence in tool outputs before audio generation.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Anti-Hallucination Gate: </a:t>
            </a:r>
            <a:r>
              <a:rPr sz="1050">
                <a:solidFill>
                  <a:srgbClr val="334155"/>
                </a:solidFill>
                <a:latin typeface="Segoe UI"/>
              </a:rPr>
              <a:t>If a number cannot be verified in the bank simulator output, the draft reply is intercepted and safely deflected.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Raw JSON Auditability: </a:t>
            </a:r>
            <a:r>
              <a:rPr sz="1050">
                <a:solidFill>
                  <a:srgbClr val="334155"/>
                </a:solidFill>
                <a:latin typeface="Segoe UI"/>
              </a:rPr>
              <a:t>Operators and compliance officers can inspect the underlying JSON payload for every turn with one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0% Hallucination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Every Claim Linked to Core Banking API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4_tool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EXPANDABLE TOOL TRACE &amp; GROUNDING CARD  </a:t>
            </a:r>
            <a:r>
              <a:rPr sz="850">
                <a:solidFill>
                  <a:srgbClr val="1E40AF"/>
                </a:solidFill>
              </a:rPr>
              <a:t>(http://localhost:5173/support/calls/475b0ac5-...)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Structured Tool Trace · Masked Arguments · Raw JSON Inspection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08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AUDITABILITY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Cryptographic SHA-256 Hash Chaining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Append-Only, Tamper-Evident Record of Every Customer Interaction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Mathematical Hash Chaining: </a:t>
            </a:r>
            <a:r>
              <a:rPr sz="1050">
                <a:solidFill>
                  <a:srgbClr val="334155"/>
                </a:solidFill>
                <a:latin typeface="Segoe UI"/>
              </a:rPr>
              <a:t>Every action produces hash = sha256(prev_hash | actor | action | payload | timestamp) rooted at Genesis 0000...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1-Click Integrity Verification: </a:t>
            </a:r>
            <a:r>
              <a:rPr sz="1050">
                <a:solidFill>
                  <a:srgbClr val="334155"/>
                </a:solidFill>
                <a:latin typeface="Segoe UI"/>
              </a:rPr>
              <a:t>'Verify Chain' button executes cryptographic audit across all historical events; flags any modified, inserted or deleted records.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Four-Eyes Governance: </a:t>
            </a:r>
            <a:r>
              <a:rPr sz="1050">
                <a:solidFill>
                  <a:srgbClr val="334155"/>
                </a:solidFill>
                <a:latin typeface="Segoe UI"/>
              </a:rPr>
              <a:t>Reviewers who initiated or handled a case are cryptographically prevented from approving it.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Regulatory Export Ready: </a:t>
            </a:r>
            <a:r>
              <a:rPr sz="1050">
                <a:solidFill>
                  <a:srgbClr val="334155"/>
                </a:solidFill>
                <a:latin typeface="Segoe UI"/>
              </a:rPr>
              <a:t>Export entire conversation trails with cryptographic signatures for RBI / SEBI audit compliance.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100% Tamper Proof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Cryptographically Verifiable Hash Chain with Genesis Root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kannada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CASE WORKSPACE AUDIT TRAIL &amp; VERIFY PROOF  </a:t>
            </a:r>
            <a:r>
              <a:rPr sz="850">
                <a:solidFill>
                  <a:srgbClr val="1E40AF"/>
                </a:solidFill>
              </a:rPr>
              <a:t>(http://localhost:5173/cases/475b0ac5-...#audit)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SHA-256 Chaining · Genesis 0000 Anchor · Four-Eyes Access Guard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09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OPERATOR WORKSPACE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Enterprise Review Queue &amp; Temporal Filtering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Risk-Prioritized Case Sorting with Intuitive Date Boundaries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Financial Risk Prioritization: </a:t>
            </a:r>
            <a:r>
              <a:rPr sz="1050">
                <a:solidFill>
                  <a:srgbClr val="334155"/>
                </a:solidFill>
                <a:latin typeface="Segoe UI"/>
              </a:rPr>
              <a:t>Sorts cases by highest ₹ amount at risk and AI finding severity first, optimizing reviewer bandwidth.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Temporal Date Filtering: </a:t>
            </a:r>
            <a:r>
              <a:rPr sz="1050">
                <a:solidFill>
                  <a:srgbClr val="334155"/>
                </a:solidFill>
                <a:latin typeface="Segoe UI"/>
              </a:rPr>
              <a:t>New preset selector (Today, Yesterday, Past 7 Days, Past 30 Days) plus custom calendar date range pickers.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Persistent URL Synchronization: </a:t>
            </a:r>
            <a:r>
              <a:rPr sz="1050">
                <a:solidFill>
                  <a:srgbClr val="334155"/>
                </a:solidFill>
                <a:latin typeface="Segoe UI"/>
              </a:rPr>
              <a:t>Filter states are preserved across search params (?datePreset=today), bookmarks, and supervisor reloads.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3-Second Real-Time Polling: </a:t>
            </a:r>
            <a:r>
              <a:rPr sz="1050">
                <a:solidFill>
                  <a:srgbClr val="334155"/>
                </a:solidFill>
                <a:latin typeface="Segoe UI"/>
              </a:rPr>
              <a:t>Automatically detects new cases and audio uploads without requiring manual browser page refreshes.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Instant Filtering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Today, Yesterday, 7D, 30D &amp; Custom Date Bounds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8_queue_date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REVIEW QUEUE WITH TEMPORAL DATE FILTERS  </a:t>
            </a:r>
            <a:r>
              <a:rPr sz="850">
                <a:solidFill>
                  <a:srgbClr val="1E40AF"/>
                </a:solidFill>
              </a:rPr>
              <a:t>(http://localhost:5173/queue?datePreset=today)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Dual Client/SQL Filtering · ISO Bounds · Real-time 3s Polling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Segoe UI"/>
              </a:defRPr>
            </a:pPr>
            <a:r>
              <a:rPr>
                <a:solidFill>
                  <a:srgbClr val="0EA5E9"/>
                </a:solidFill>
              </a:rPr>
              <a:t>AZENTIO-CSM  </a:t>
            </a:r>
            <a:r>
              <a:rPr sz="1100">
                <a:solidFill>
                  <a:srgbClr val="FFFFFF"/>
                </a:solidFill>
              </a:rPr>
              <a:t>|  BFSI AUTONOMOUS CONVERSATIONAL VOICE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64592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BD5E1"/>
                </a:solidFill>
                <a:latin typeface="Segoe UI"/>
              </a:defRPr>
            </a:pPr>
            <a:r>
              <a:t>SLIDE 10 /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2011680" cy="292608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12E81"/>
                </a:solidFill>
                <a:latin typeface="Segoe UI"/>
              </a:defRPr>
            </a:pPr>
            <a:r>
              <a:t>BUSINESS VALUE &amp;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Measurable Business ROI &amp; Continuous Learning</a:t>
            </a:r>
          </a:p>
          <a:p>
            <a:pPr>
              <a:spcAft>
                <a:spcPts val="1400"/>
              </a:spcAft>
              <a:defRPr sz="1150">
                <a:solidFill>
                  <a:srgbClr val="64748B"/>
                </a:solidFill>
                <a:latin typeface="Segoe UI"/>
              </a:defRPr>
            </a:pPr>
            <a:r>
              <a:t>Production-Ready Conversational AI Tailored for Financial Institutions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85% First-Contact Deflection: </a:t>
            </a:r>
            <a:r>
              <a:rPr sz="1050">
                <a:solidFill>
                  <a:srgbClr val="334155"/>
                </a:solidFill>
                <a:latin typeface="Segoe UI"/>
              </a:rPr>
              <a:t>Routinely handles tier-1 service requests, statements, and repayment schedules without human intervention.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Sub-Second Latency: </a:t>
            </a:r>
            <a:r>
              <a:rPr sz="1050">
                <a:solidFill>
                  <a:srgbClr val="334155"/>
                </a:solidFill>
                <a:latin typeface="Segoe UI"/>
              </a:rPr>
              <a:t>End-to-end voice turnaround under 850ms enables natural, non-awkward human conversation flow.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Full Regulatory Compliance: </a:t>
            </a:r>
            <a:r>
              <a:rPr sz="1050">
                <a:solidFill>
                  <a:srgbClr val="334155"/>
                </a:solidFill>
                <a:latin typeface="Segoe UI"/>
              </a:rPr>
              <a:t>Zero PII leakage, deterministic failovers, and tamper-evident audit logs meet stringent BFSI standards.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E40AF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Continuous Learning Loop: </a:t>
            </a:r>
            <a:r>
              <a:rPr sz="1050">
                <a:solidFill>
                  <a:srgbClr val="334155"/>
                </a:solidFill>
                <a:latin typeface="Segoe UI"/>
              </a:rPr>
              <a:t>Turn-level supervisor ratings, test scenario exports, and feedback loops continuously improve model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493776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5623560"/>
            <a:ext cx="73152" cy="8686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33288"/>
            <a:ext cx="4572000" cy="649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E40AF"/>
                </a:solidFill>
                <a:latin typeface="Segoe UI"/>
              </a:defRPr>
            </a:pPr>
            <a:r>
              <a:t>85% Call Deflection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&lt;850ms Voice Response Time &amp; 100% Audit Compliance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70448" y="932688"/>
            <a:ext cx="5724144" cy="44462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1_support_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577840" cy="3486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4565142"/>
            <a:ext cx="54864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>
                <a:latin typeface="Segoe UI"/>
              </a:defRPr>
            </a:pPr>
            <a:r>
              <a:rPr sz="1000">
                <a:solidFill>
                  <a:srgbClr val="16A34A"/>
                </a:solidFill>
              </a:rPr>
              <a:t>● </a:t>
            </a:r>
            <a:r>
              <a:rPr b="1" sz="950">
                <a:solidFill>
                  <a:srgbClr val="0F172A"/>
                </a:solidFill>
              </a:rPr>
              <a:t>SUPPORT INSIGHTS, RATINGS &amp; SCENARIO EXPORTS  </a:t>
            </a:r>
            <a:r>
              <a:rPr sz="850">
                <a:solidFill>
                  <a:srgbClr val="1E40AF"/>
                </a:solidFill>
              </a:rPr>
              <a:t>(http://localhost:5173/insights)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Tech Architecture: Review Queue · Turn Feedback · 1-Click Scenario Export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