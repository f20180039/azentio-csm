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EA5E9"/>
                </a:solidFill>
              </a:defRPr>
            </a:pPr>
            <a:r>
              <a:t>AZENTIO-CSM  |  BFSI AUTONOMOUS CONVERSATIONAL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64592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</a:defRPr>
            </a:pPr>
            <a:r>
              <a:t>SLIDE 01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5303520" cy="5394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EXECUTIVE PITCH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</a:defRPr>
            </a:pPr>
            <a:r>
              <a:t>Azentio-CSM: Next-Gen Autonomous BFSI Voice Platform</a:t>
            </a:r>
          </a:p>
          <a:p>
            <a:pPr>
              <a:spcAft>
                <a:spcPts val="1400"/>
              </a:spcAft>
              <a:defRPr sz="1200">
                <a:solidFill>
                  <a:srgbClr val="64748B"/>
                </a:solidFill>
              </a:defRPr>
            </a:pPr>
            <a:r>
              <a:t>Deterministic Guardrails, Multilingual Intelligence &amp; Cryptographic Auditability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0F172A"/>
                </a:solidFill>
              </a:rPr>
              <a:t>•  Full-Stack BFSI Solution: </a:t>
            </a:r>
            <a:r>
              <a:rPr sz="1100">
                <a:solidFill>
                  <a:srgbClr val="1E293B"/>
                </a:solidFill>
              </a:rPr>
              <a:t>Autonomous voice agent handling complex customer support, loan inquiries, statement generation, and policy renewals.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0F172A"/>
                </a:solidFill>
              </a:rPr>
              <a:t>•  Zero-Hallucination Architecture: </a:t>
            </a:r>
            <a:r>
              <a:rPr sz="1100">
                <a:solidFill>
                  <a:srgbClr val="1E293B"/>
                </a:solidFill>
              </a:rPr>
              <a:t>Every financial figure, reference number, and date is strictly grounded against Core Banking Simulator APIs before synthesis.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0F172A"/>
                </a:solidFill>
              </a:rPr>
              <a:t>•  Enterprise Compliance &amp; 2FA: </a:t>
            </a:r>
            <a:r>
              <a:rPr sz="1100">
                <a:solidFill>
                  <a:srgbClr val="1E293B"/>
                </a:solidFill>
              </a:rPr>
              <a:t>Automated Two-Factor Authentication (OTP/DOB) with hard guardrails and instant supervisor handoff backstops.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0F172A"/>
                </a:solidFill>
              </a:rPr>
              <a:t>•  Production-Grade Quality: </a:t>
            </a:r>
            <a:r>
              <a:rPr sz="1100">
                <a:solidFill>
                  <a:srgbClr val="1E293B"/>
                </a:solidFill>
              </a:rPr>
              <a:t>924 automated tests passing (100% green across Core API, Banking Simulator, Voice Agent, and Web Desk).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715000"/>
            <a:ext cx="5120640" cy="7772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5779008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563EB"/>
                </a:solidFill>
              </a:defRPr>
            </a:pPr>
            <a:r>
              <a:t>924 Tests Passing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100% Automated Coverage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44768" y="978408"/>
            <a:ext cx="5358384" cy="5440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1_support_de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051560"/>
            <a:ext cx="5212080" cy="46634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217920" y="580644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748B"/>
                </a:solidFill>
              </a:defRPr>
            </a:pPr>
            <a:r>
              <a:t>📷 Live Operator Support Desk running on localhost:5173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EA5E9"/>
                </a:solidFill>
              </a:defRPr>
            </a:pPr>
            <a:r>
              <a:t>AZENTIO-CSM  |  BFSI AUTONOMOUS CONVERSATIONAL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64592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</a:defRPr>
            </a:pPr>
            <a:r>
              <a:t>SLIDE 02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5303520" cy="5394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THE PROBLEM &amp; CHALLENGE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</a:defRPr>
            </a:pPr>
            <a:r>
              <a:t>The High-Stakes Friction in BFSI Customer Service</a:t>
            </a:r>
          </a:p>
          <a:p>
            <a:pPr>
              <a:spcAft>
                <a:spcPts val="1400"/>
              </a:spcAft>
              <a:defRPr sz="1200">
                <a:solidFill>
                  <a:srgbClr val="64748B"/>
                </a:solidFill>
              </a:defRPr>
            </a:pPr>
            <a:r>
              <a:t>Traditional Chatbots Hallucinate; Human Call Centers Are Overwhelmed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0F172A"/>
                </a:solidFill>
              </a:rPr>
              <a:t>•  Financial &amp; Regulatory Risk: </a:t>
            </a:r>
            <a:r>
              <a:rPr sz="1100">
                <a:solidFill>
                  <a:srgbClr val="1E293B"/>
                </a:solidFill>
              </a:rPr>
              <a:t>Generic LLM bots hallucinate balances, interest rates, and loan terms, causing severe RBI/compliance penalties.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0F172A"/>
                </a:solidFill>
              </a:rPr>
              <a:t>•  Vernacular &amp; Multilingual Gap: </a:t>
            </a:r>
            <a:r>
              <a:rPr sz="1100">
                <a:solidFill>
                  <a:srgbClr val="1E293B"/>
                </a:solidFill>
              </a:rPr>
              <a:t>Over 65% of Tier-2/3 Indian banking customers speak regional languages (Kannada, Hindi), where off-the-shelf bots fail.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0F172A"/>
                </a:solidFill>
              </a:rPr>
              <a:t>•  Security &amp; Verification Vulnerability: </a:t>
            </a:r>
            <a:r>
              <a:rPr sz="1100">
                <a:solidFill>
                  <a:srgbClr val="1E293B"/>
                </a:solidFill>
              </a:rPr>
              <a:t>Weak authentication leads to data leakage, social engineering attacks, and compromised customer PII.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0F172A"/>
                </a:solidFill>
              </a:rPr>
              <a:t>•  Black-Box Operations: </a:t>
            </a:r>
            <a:r>
              <a:rPr sz="1100">
                <a:solidFill>
                  <a:srgbClr val="1E293B"/>
                </a:solidFill>
              </a:rPr>
              <a:t>Zero explainability into why an AI agent made a decision, with no tamper-evident audit trail for dispute resolution.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715000"/>
            <a:ext cx="5120640" cy="7772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5779008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563EB"/>
                </a:solidFill>
              </a:defRPr>
            </a:pPr>
            <a:r>
              <a:t>65%+ Call Volume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Demands Regional Language Support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44768" y="978408"/>
            <a:ext cx="5358384" cy="5440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2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051560"/>
            <a:ext cx="5212080" cy="46634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217920" y="580644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748B"/>
                </a:solidFill>
              </a:defRPr>
            </a:pPr>
            <a:r>
              <a:t>📷 Real-Time Operations Analytics &amp; Intent Trends on localhost:5173/dashboard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EA5E9"/>
                </a:solidFill>
              </a:defRPr>
            </a:pPr>
            <a:r>
              <a:t>AZENTIO-CSM  |  BFSI AUTONOMOUS CONVERSATIONAL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64592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</a:defRPr>
            </a:pPr>
            <a:r>
              <a:t>SLIDE 03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5303520" cy="5394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SYSTEM ARCHITECTURE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</a:defRPr>
            </a:pPr>
            <a:r>
              <a:t>Defense-in-Depth Microservice Architecture</a:t>
            </a:r>
          </a:p>
          <a:p>
            <a:pPr>
              <a:spcAft>
                <a:spcPts val="1400"/>
              </a:spcAft>
              <a:defRPr sz="1200">
                <a:solidFill>
                  <a:srgbClr val="64748B"/>
                </a:solidFill>
              </a:defRPr>
            </a:pPr>
            <a:r>
              <a:t>Modular, Multi-Model Resilience with Strict Service Separation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0F172A"/>
                </a:solidFill>
              </a:rPr>
              <a:t>•  Dual Ingress Channels: </a:t>
            </a:r>
            <a:r>
              <a:rPr sz="1100">
                <a:solidFill>
                  <a:srgbClr val="1E293B"/>
                </a:solidFill>
              </a:rPr>
              <a:t>WebRTC browser peer connection (&lt;350ms glass-to-glass) + Twilio Carrier Telephony (PSTN/SIP voice streaming).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0F172A"/>
                </a:solidFill>
              </a:rPr>
              <a:t>•  Multi-Model Resilience Chain: </a:t>
            </a:r>
            <a:r>
              <a:rPr sz="1100">
                <a:solidFill>
                  <a:srgbClr val="1E293B"/>
                </a:solidFill>
              </a:rPr>
              <a:t>Dynamic failover across Groq GPT-OSS 120B -&gt; 20B -&gt; Local LLaMA 3.2 Ollama with automatic cooldown &amp; health monitoring.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0F172A"/>
                </a:solidFill>
              </a:rPr>
              <a:t>•  Clean Microservices: </a:t>
            </a:r>
            <a:r>
              <a:rPr sz="1100">
                <a:solidFill>
                  <a:srgbClr val="1E293B"/>
                </a:solidFill>
              </a:rPr>
              <a:t>Core API (8080) + Core Banking Simulator (8090) + Pipecat Voice Pipeline (7861) + Modern React Desk (5173).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0F172A"/>
                </a:solidFill>
              </a:rPr>
              <a:t>•  100% Modern Python &amp; TypeScript: </a:t>
            </a:r>
            <a:r>
              <a:rPr sz="1100">
                <a:solidFill>
                  <a:srgbClr val="1E293B"/>
                </a:solidFill>
              </a:rPr>
              <a:t>Completely eliminated legacy Java dependencies for lightning-fast container startup and agile CI/CD.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715000"/>
            <a:ext cx="5120640" cy="7772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5779008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563EB"/>
                </a:solidFill>
              </a:defRPr>
            </a:pPr>
            <a:r>
              <a:t>&lt;850ms Latency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End-to-End Voice Response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44768" y="978408"/>
            <a:ext cx="5358384" cy="5440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1_support_de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051560"/>
            <a:ext cx="5212080" cy="46634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217920" y="580644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748B"/>
                </a:solidFill>
              </a:defRPr>
            </a:pPr>
            <a:r>
              <a:t>📷 Integrated Microservices Ecosystem: Core API (8080), Voice (7861), Web (5173)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EA5E9"/>
                </a:solidFill>
              </a:defRPr>
            </a:pPr>
            <a:r>
              <a:t>AZENTIO-CSM  |  BFSI AUTONOMOUS CONVERSATIONAL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64592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</a:defRPr>
            </a:pPr>
            <a:r>
              <a:t>SLIDE 04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5303520" cy="5394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MULTILINGUAL INTELLIGENCE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</a:defRPr>
            </a:pPr>
            <a:r>
              <a:t>Native Kannada &amp; Hindi Speech Recognition</a:t>
            </a:r>
          </a:p>
          <a:p>
            <a:pPr>
              <a:spcAft>
                <a:spcPts val="1400"/>
              </a:spcAft>
              <a:defRPr sz="1200">
                <a:solidFill>
                  <a:srgbClr val="64748B"/>
                </a:solidFill>
              </a:defRPr>
            </a:pPr>
            <a:r>
              <a:t>Accurate Vernacular Nuances with Real-Time English Transcription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0F172A"/>
                </a:solidFill>
              </a:rPr>
              <a:t>•  Devanagari &amp; Kannada Conditioning: </a:t>
            </a:r>
            <a:r>
              <a:rPr sz="1100">
                <a:solidFill>
                  <a:srgbClr val="1E293B"/>
                </a:solidFill>
              </a:rPr>
              <a:t>Custom acoustic biasing handles Kannada verb endings, Hindi honorifics, and dialectical number pronunciations.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0F172A"/>
                </a:solidFill>
              </a:rPr>
              <a:t>•  Dual-Pane Operator Assistance: </a:t>
            </a:r>
            <a:r>
              <a:rPr sz="1100">
                <a:solidFill>
                  <a:srgbClr val="1E293B"/>
                </a:solidFill>
              </a:rPr>
              <a:t>Call transcripts display native vernacular text alongside instant English machine translation for bank supervisors.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0F172A"/>
                </a:solidFill>
              </a:rPr>
              <a:t>•  Phonetic Reference Recovery: </a:t>
            </a:r>
            <a:r>
              <a:rPr sz="1100">
                <a:solidFill>
                  <a:srgbClr val="1E293B"/>
                </a:solidFill>
              </a:rPr>
              <a:t>Translates spoken phonetic phrases into valid banking references ('ಎಂಟು ನೂರು' -&gt; '800', 'ಲೋನ್' -&gt; 'LOAN').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0F172A"/>
                </a:solidFill>
              </a:rPr>
              <a:t>•  Speech-to-Text Benchmark Proven: </a:t>
            </a:r>
            <a:r>
              <a:rPr sz="1100">
                <a:solidFill>
                  <a:srgbClr val="1E293B"/>
                </a:solidFill>
              </a:rPr>
              <a:t>Benchmarked across diverse accents and background noise with &gt;94% intent classification accuracy.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715000"/>
            <a:ext cx="5120640" cy="7772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5779008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563EB"/>
                </a:solidFill>
              </a:defRPr>
            </a:pPr>
            <a:r>
              <a:t>94%+ STT Accuracy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Across Kannada, Hindi &amp; Indian English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44768" y="978408"/>
            <a:ext cx="5358384" cy="5440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3_kannada_c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051560"/>
            <a:ext cx="5212080" cy="46634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217920" y="580644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748B"/>
                </a:solidFill>
              </a:defRPr>
            </a:pPr>
            <a:r>
              <a:t>📷 Live Kannada Support Call with Parallel English Translation (localhost:5173)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EA5E9"/>
                </a:solidFill>
              </a:defRPr>
            </a:pPr>
            <a:r>
              <a:t>AZENTIO-CSM  |  BFSI AUTONOMOUS CONVERSATIONAL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64592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</a:defRPr>
            </a:pPr>
            <a:r>
              <a:t>SLIDE 05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5303520" cy="5394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SECURITY &amp; GUARDRAILS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</a:defRPr>
            </a:pPr>
            <a:r>
              <a:t>Deterministic 2FA &amp; Zero-Trust Banking Gate</a:t>
            </a:r>
          </a:p>
          <a:p>
            <a:pPr>
              <a:spcAft>
                <a:spcPts val="1400"/>
              </a:spcAft>
              <a:defRPr sz="1200">
                <a:solidFill>
                  <a:srgbClr val="64748B"/>
                </a:solidFill>
              </a:defRPr>
            </a:pPr>
            <a:r>
              <a:t>No Customer Financial Data Exposed Prior to Identity Verification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0F172A"/>
                </a:solidFill>
              </a:rPr>
              <a:t>•  Strict Two-Factor Gate: </a:t>
            </a:r>
            <a:r>
              <a:rPr sz="1100">
                <a:solidFill>
                  <a:srgbClr val="1E293B"/>
                </a:solidFill>
              </a:rPr>
              <a:t>Callers must provide registered 10-digit mobile number and Date of Birth (YYYY-MM-DD) or OTP before any query.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0F172A"/>
                </a:solidFill>
              </a:rPr>
              <a:t>•  Model Lockout Enforcement: </a:t>
            </a:r>
            <a:r>
              <a:rPr sz="1100">
                <a:solidFill>
                  <a:srgbClr val="1E293B"/>
                </a:solidFill>
              </a:rPr>
              <a:t>LLM prompt conditioning forbids answering balance or statement queries while verified=false; hard-coded tool guardrails enforce this.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0F172A"/>
                </a:solidFill>
              </a:rPr>
              <a:t>•  Brute-Force Protection: </a:t>
            </a:r>
            <a:r>
              <a:rPr sz="1100">
                <a:solidFill>
                  <a:srgbClr val="1E293B"/>
                </a:solidFill>
              </a:rPr>
              <a:t>Maximum 3 failed verification attempts before account lock and automated supervisor escalation (ESC-XXXXX).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0F172A"/>
                </a:solidFill>
              </a:rPr>
              <a:t>•  Caller Profile Integration: </a:t>
            </a:r>
            <a:r>
              <a:rPr sz="1100">
                <a:solidFill>
                  <a:srgbClr val="1E293B"/>
                </a:solidFill>
              </a:rPr>
              <a:t>Verified callers instantly surface KYC profile, active loan accounts, and risk score on the operator desk.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715000"/>
            <a:ext cx="5120640" cy="7772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5779008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563EB"/>
                </a:solidFill>
              </a:defRPr>
            </a:pPr>
            <a:r>
              <a:t>Zero Leaks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Strict Identity Gate Enforced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44768" y="978408"/>
            <a:ext cx="5358384" cy="5440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3_kannada_c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051560"/>
            <a:ext cx="5212080" cy="46634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217920" y="580644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748B"/>
                </a:solidFill>
              </a:defRPr>
            </a:pPr>
            <a:r>
              <a:t>📷 Customer Identity Verification &amp; Security Card on localhost:5173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EA5E9"/>
                </a:solidFill>
              </a:defRPr>
            </a:pPr>
            <a:r>
              <a:t>AZENTIO-CSM  |  BFSI AUTONOMOUS CONVERSATIONAL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64592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</a:defRPr>
            </a:pPr>
            <a:r>
              <a:t>SLIDE 06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5303520" cy="5394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AUTONOMOUS OPERATIONS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</a:defRPr>
            </a:pPr>
            <a:r>
              <a:t>Real-Time Service Request Execution</a:t>
            </a:r>
          </a:p>
          <a:p>
            <a:pPr>
              <a:spcAft>
                <a:spcPts val="1400"/>
              </a:spcAft>
              <a:defRPr sz="1200">
                <a:solidFill>
                  <a:srgbClr val="64748B"/>
                </a:solidFill>
              </a:defRPr>
            </a:pPr>
            <a:r>
              <a:t>Automated Core Banking Transactions with Reference Generation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0F172A"/>
                </a:solidFill>
              </a:rPr>
              <a:t>•  End-to-End API Execution: </a:t>
            </a:r>
            <a:r>
              <a:rPr sz="1100">
                <a:solidFill>
                  <a:srgbClr val="1E293B"/>
                </a:solidFill>
              </a:rPr>
              <a:t>The voice agent directly queries and updates the Core Banking Simulator (8090) in real-time.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0F172A"/>
                </a:solidFill>
              </a:rPr>
              <a:t>•  Automated Service Requests: </a:t>
            </a:r>
            <a:r>
              <a:rPr sz="1100">
                <a:solidFill>
                  <a:srgbClr val="1E293B"/>
                </a:solidFill>
              </a:rPr>
              <a:t>Instant registration of loan statements, repayment schedules, and callback tickets with unique reference IDs (SR-1042).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0F172A"/>
                </a:solidFill>
              </a:rPr>
              <a:t>•  Formal Complaint Lodging: </a:t>
            </a:r>
            <a:r>
              <a:rPr sz="1100">
                <a:solidFill>
                  <a:srgbClr val="1E293B"/>
                </a:solidFill>
              </a:rPr>
              <a:t>Logs grievances with category classification, department routing, and SLA tracking (CMP-3011).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0F172A"/>
                </a:solidFill>
              </a:rPr>
              <a:t>•  Phonetic Reference Repair: </a:t>
            </a:r>
            <a:r>
              <a:rPr sz="1100">
                <a:solidFill>
                  <a:srgbClr val="1E293B"/>
                </a:solidFill>
              </a:rPr>
              <a:t>Spoken letters and numbers are phonetically spelled out and matched against active database records.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715000"/>
            <a:ext cx="5120640" cy="7772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5779008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563EB"/>
                </a:solidFill>
              </a:defRPr>
            </a:pPr>
            <a:r>
              <a:t>100% Autonomous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SR-1042 / CMP-3011 Real-Time Creation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44768" y="978408"/>
            <a:ext cx="5358384" cy="5440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1_support_de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051560"/>
            <a:ext cx="5212080" cy="46634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217920" y="580644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748B"/>
                </a:solidFill>
              </a:defRPr>
            </a:pPr>
            <a:r>
              <a:t>📷 Live Core Banking Operations Ledger: Tickets, Complaints &amp; Service Requests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EA5E9"/>
                </a:solidFill>
              </a:defRPr>
            </a:pPr>
            <a:r>
              <a:t>AZENTIO-CSM  |  BFSI AUTONOMOUS CONVERSATIONAL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64592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</a:defRPr>
            </a:pPr>
            <a:r>
              <a:t>SLIDE 07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5303520" cy="5394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EXPLAINABILITY &amp; GROUNDING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</a:defRPr>
            </a:pPr>
            <a:r>
              <a:t>Explainability: 'Why Did the Agent Say This?'</a:t>
            </a:r>
          </a:p>
          <a:p>
            <a:pPr>
              <a:spcAft>
                <a:spcPts val="1400"/>
              </a:spcAft>
              <a:defRPr sz="1200">
                <a:solidFill>
                  <a:srgbClr val="64748B"/>
                </a:solidFill>
              </a:defRPr>
            </a:pPr>
            <a:r>
              <a:t>Structured Decision Rationale, Masked Tool Traces &amp; Fact Verification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0F172A"/>
                </a:solidFill>
              </a:rPr>
              <a:t>•  Transparent Tool Execution: </a:t>
            </a:r>
            <a:r>
              <a:rPr sz="1100">
                <a:solidFill>
                  <a:srgbClr val="1E293B"/>
                </a:solidFill>
              </a:rPr>
              <a:t>Every agent utterance is accompanied by an expandable 'Retrieved' card showing the exact tool called and parameters used.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0F172A"/>
                </a:solidFill>
              </a:rPr>
              <a:t>•  Pre-Speech Grounding Validator: </a:t>
            </a:r>
            <a:r>
              <a:rPr sz="1100">
                <a:solidFill>
                  <a:srgbClr val="1E293B"/>
                </a:solidFill>
              </a:rPr>
              <a:t>Extracts figures, dates, and amounts from draft replies and verifies existence in tool outputs before audio generation.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0F172A"/>
                </a:solidFill>
              </a:rPr>
              <a:t>•  Anti-Hallucination Gate: </a:t>
            </a:r>
            <a:r>
              <a:rPr sz="1100">
                <a:solidFill>
                  <a:srgbClr val="1E293B"/>
                </a:solidFill>
              </a:rPr>
              <a:t>If a number cannot be verified in the bank simulator output, the draft reply is intercepted and safely deflected.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0F172A"/>
                </a:solidFill>
              </a:rPr>
              <a:t>•  Raw JSON Auditability: </a:t>
            </a:r>
            <a:r>
              <a:rPr sz="1100">
                <a:solidFill>
                  <a:srgbClr val="1E293B"/>
                </a:solidFill>
              </a:rPr>
              <a:t>Operators and compliance officers can inspect the underlying JSON payload for every turn with one click.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715000"/>
            <a:ext cx="5120640" cy="7772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5779008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563EB"/>
                </a:solidFill>
              </a:defRPr>
            </a:pPr>
            <a:r>
              <a:t>0% Hallucination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Every Claim Linked to Simulator Output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44768" y="978408"/>
            <a:ext cx="5358384" cy="5440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4_tool_tr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051560"/>
            <a:ext cx="5212080" cy="46634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217920" y="580644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748B"/>
                </a:solidFill>
              </a:defRPr>
            </a:pPr>
            <a:r>
              <a:t>📷 Tool Trace Rationale Card: Masked Arguments, Status &amp; Retrieved Records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EA5E9"/>
                </a:solidFill>
              </a:defRPr>
            </a:pPr>
            <a:r>
              <a:t>AZENTIO-CSM  |  BFSI AUTONOMOUS CONVERSATIONAL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64592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</a:defRPr>
            </a:pPr>
            <a:r>
              <a:t>SLIDE 08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5303520" cy="5394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AUDITABILITY &amp; COMPLIANCE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</a:defRPr>
            </a:pPr>
            <a:r>
              <a:t>Cryptographic SHA-256 Hash Chaining</a:t>
            </a:r>
          </a:p>
          <a:p>
            <a:pPr>
              <a:spcAft>
                <a:spcPts val="1400"/>
              </a:spcAft>
              <a:defRPr sz="1200">
                <a:solidFill>
                  <a:srgbClr val="64748B"/>
                </a:solidFill>
              </a:defRPr>
            </a:pPr>
            <a:r>
              <a:t>Append-Only, Tamper-Evident Record of Every Customer Interaction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0F172A"/>
                </a:solidFill>
              </a:rPr>
              <a:t>•  Mathematical Hash Chaining: </a:t>
            </a:r>
            <a:r>
              <a:rPr sz="1100">
                <a:solidFill>
                  <a:srgbClr val="1E293B"/>
                </a:solidFill>
              </a:rPr>
              <a:t>Every action produces hash = sha256(prev_hash | actor | action | payload | timestamp) rooted at Genesis 0000...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0F172A"/>
                </a:solidFill>
              </a:rPr>
              <a:t>•  1-Click Integrity Verification: </a:t>
            </a:r>
            <a:r>
              <a:rPr sz="1100">
                <a:solidFill>
                  <a:srgbClr val="1E293B"/>
                </a:solidFill>
              </a:rPr>
              <a:t>'Verify Chain' button executes cryptographic audit across all historical events; flags any modified, inserted or deleted records.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0F172A"/>
                </a:solidFill>
              </a:rPr>
              <a:t>•  Four-Eyes Governance: </a:t>
            </a:r>
            <a:r>
              <a:rPr sz="1100">
                <a:solidFill>
                  <a:srgbClr val="1E293B"/>
                </a:solidFill>
              </a:rPr>
              <a:t>Reviewers who initiated or handled a case are cryptographically prevented from approving it.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0F172A"/>
                </a:solidFill>
              </a:rPr>
              <a:t>•  Regulatory Export Ready: </a:t>
            </a:r>
            <a:r>
              <a:rPr sz="1100">
                <a:solidFill>
                  <a:srgbClr val="1E293B"/>
                </a:solidFill>
              </a:rPr>
              <a:t>Export entire conversation trails with cryptographic signatures for RBI / SEBI audit compliance.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715000"/>
            <a:ext cx="5120640" cy="7772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5779008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563EB"/>
                </a:solidFill>
              </a:defRPr>
            </a:pPr>
            <a:r>
              <a:t>100% Tamper Proof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Cryptographically Verifiable Hash Chain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44768" y="978408"/>
            <a:ext cx="5358384" cy="5440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3_kannada_c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051560"/>
            <a:ext cx="5212080" cy="46634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217920" y="580644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748B"/>
                </a:solidFill>
              </a:defRPr>
            </a:pPr>
            <a:r>
              <a:t>📷 Case Workspace Cryptographic Audit Trail with 'Verify Chain' Banner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EA5E9"/>
                </a:solidFill>
              </a:defRPr>
            </a:pPr>
            <a:r>
              <a:t>AZENTIO-CSM  |  BFSI AUTONOMOUS CONVERSATIONAL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64592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</a:defRPr>
            </a:pPr>
            <a:r>
              <a:t>SLIDE 09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5303520" cy="5394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OPERATOR WORKSPACE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</a:defRPr>
            </a:pPr>
            <a:r>
              <a:t>Enterprise Review Queue &amp; Temporal Filtering</a:t>
            </a:r>
          </a:p>
          <a:p>
            <a:pPr>
              <a:spcAft>
                <a:spcPts val="1400"/>
              </a:spcAft>
              <a:defRPr sz="1200">
                <a:solidFill>
                  <a:srgbClr val="64748B"/>
                </a:solidFill>
              </a:defRPr>
            </a:pPr>
            <a:r>
              <a:t>Risk-Prioritized Case Sorting with Intuitive Date Boundaries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0F172A"/>
                </a:solidFill>
              </a:rPr>
              <a:t>•  Financial Risk Prioritization: </a:t>
            </a:r>
            <a:r>
              <a:rPr sz="1100">
                <a:solidFill>
                  <a:srgbClr val="1E293B"/>
                </a:solidFill>
              </a:rPr>
              <a:t>Sorts cases by highest ₹ amount at risk and AI finding severity first, optimizing reviewer bandwidth.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0F172A"/>
                </a:solidFill>
              </a:rPr>
              <a:t>•  Temporal Date Filtering: </a:t>
            </a:r>
            <a:r>
              <a:rPr sz="1100">
                <a:solidFill>
                  <a:srgbClr val="1E293B"/>
                </a:solidFill>
              </a:rPr>
              <a:t>New preset selector (Today, Yesterday, Past 7 Days, Past 30 Days) plus custom calendar date range pickers.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0F172A"/>
                </a:solidFill>
              </a:rPr>
              <a:t>•  Persistent URL Synchronization: </a:t>
            </a:r>
            <a:r>
              <a:rPr sz="1100">
                <a:solidFill>
                  <a:srgbClr val="1E293B"/>
                </a:solidFill>
              </a:rPr>
              <a:t>Filter states are preserved across search params (?datePreset=today), bookmarks, and supervisor reloads.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0F172A"/>
                </a:solidFill>
              </a:rPr>
              <a:t>•  3-Second Real-Time Polling: </a:t>
            </a:r>
            <a:r>
              <a:rPr sz="1100">
                <a:solidFill>
                  <a:srgbClr val="1E293B"/>
                </a:solidFill>
              </a:rPr>
              <a:t>Automatically detects new cases and audio uploads without requiring manual browser page refreshes.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715000"/>
            <a:ext cx="5120640" cy="7772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5779008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563EB"/>
                </a:solidFill>
              </a:defRPr>
            </a:pPr>
            <a:r>
              <a:t>Instant Filtering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Today, 7D, 30D &amp; Custom Date Bounds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44768" y="978408"/>
            <a:ext cx="5358384" cy="5440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8_queue_date_fil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051560"/>
            <a:ext cx="5212080" cy="46634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217920" y="580644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748B"/>
                </a:solidFill>
              </a:defRPr>
            </a:pPr>
            <a:r>
              <a:t>📷 Review Queue with New Date Range Presets &amp; Risk Sorting (localhost:5173/queue)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EA5E9"/>
                </a:solidFill>
              </a:defRPr>
            </a:pPr>
            <a:r>
              <a:t>AZENTIO-CSM  |  BFSI AUTONOMOUS CONVERSATIONAL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164592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</a:defRPr>
            </a:pPr>
            <a:r>
              <a:t>SLIDE 10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5303520" cy="5394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BUSINESS VALUE &amp; ROADMAP</a:t>
            </a:r>
          </a:p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</a:defRPr>
            </a:pPr>
            <a:r>
              <a:t>Measurable Business ROI &amp; Next-Step Roadmap</a:t>
            </a:r>
          </a:p>
          <a:p>
            <a:pPr>
              <a:spcAft>
                <a:spcPts val="1400"/>
              </a:spcAft>
              <a:defRPr sz="1200">
                <a:solidFill>
                  <a:srgbClr val="64748B"/>
                </a:solidFill>
              </a:defRPr>
            </a:pPr>
            <a:r>
              <a:t>Production-Ready Conversational AI Tailored for Financial Institutions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0F172A"/>
                </a:solidFill>
              </a:rPr>
              <a:t>•  85% First-Contact Deflection: </a:t>
            </a:r>
            <a:r>
              <a:rPr sz="1100">
                <a:solidFill>
                  <a:srgbClr val="1E293B"/>
                </a:solidFill>
              </a:rPr>
              <a:t>Routinely handles tier-1 service requests, statements, and repayment schedules without human intervention.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0F172A"/>
                </a:solidFill>
              </a:rPr>
              <a:t>•  Sub-Second Latency: </a:t>
            </a:r>
            <a:r>
              <a:rPr sz="1100">
                <a:solidFill>
                  <a:srgbClr val="1E293B"/>
                </a:solidFill>
              </a:rPr>
              <a:t>End-to-end voice turnaround under 850ms enables natural, non-awkward human conversation flow.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0F172A"/>
                </a:solidFill>
              </a:rPr>
              <a:t>•  Full Regulatory Compliance: </a:t>
            </a:r>
            <a:r>
              <a:rPr sz="1100">
                <a:solidFill>
                  <a:srgbClr val="1E293B"/>
                </a:solidFill>
              </a:rPr>
              <a:t>Zero PII leakage, deterministic failovers, and tamper-evident audit logs meet stringent BFSI standards.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0F172A"/>
                </a:solidFill>
              </a:rPr>
              <a:t>•  Continuous Learning Loop: </a:t>
            </a:r>
            <a:r>
              <a:rPr sz="1100">
                <a:solidFill>
                  <a:srgbClr val="1E293B"/>
                </a:solidFill>
              </a:rPr>
              <a:t>Turn-level supervisor ratings, test scenario exports, and feedback loops continuously improve model performance.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715000"/>
            <a:ext cx="5120640" cy="7772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5779008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563EB"/>
                </a:solidFill>
              </a:defRPr>
            </a:pPr>
            <a:r>
              <a:t>85% Call Deflection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&lt;850ms Voice Response Time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44768" y="978408"/>
            <a:ext cx="5358384" cy="5440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1_support_de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051560"/>
            <a:ext cx="5212080" cy="46634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217920" y="580644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748B"/>
                </a:solidFill>
              </a:defRPr>
            </a:pPr>
            <a:r>
              <a:t>📷 Support Insights &amp; Quality Review: Ratings, Feedback &amp; Scenario Exports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